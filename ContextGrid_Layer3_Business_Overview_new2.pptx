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CONTEXT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fits — one layer of the data access platform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PRESENTING TODAY: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ContextGrid is a 7-layer platform. Today covers Layer 3 — the layer that finds the right answer. Each other layer is its own deep-dive.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6035040" cy="585216"/>
          </a:xfrm>
          <a:prstGeom prst="roundRect">
            <a:avLst>
              <a:gd name="adj" fmla="val 9375"/>
            </a:avLst>
          </a:prstGeom>
          <a:solidFill>
            <a:srgbClr val="F4F6F8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121408"/>
            <a:ext cx="1051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37360" y="2121408"/>
            <a:ext cx="4709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ask  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plain-language questions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98064"/>
            <a:ext cx="6035040" cy="585216"/>
          </a:xfrm>
          <a:prstGeom prst="roundRect">
            <a:avLst>
              <a:gd name="adj" fmla="val 9375"/>
            </a:avLst>
          </a:prstGeom>
          <a:solidFill>
            <a:srgbClr val="F4F6F8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798064"/>
            <a:ext cx="1051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37360" y="2798064"/>
            <a:ext cx="4709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request  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interprets &amp; routes the question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603504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 w="28575">
            <a:solidFill>
              <a:srgbClr val="E0A82E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" y="347472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37360" y="347472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right answer  </a:t>
            </a:r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hybrid search · fusion · trusted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93408" y="34747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TODAY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6035040" cy="585216"/>
          </a:xfrm>
          <a:prstGeom prst="roundRect">
            <a:avLst>
              <a:gd name="adj" fmla="val 9375"/>
            </a:avLst>
          </a:prstGeom>
          <a:solidFill>
            <a:srgbClr val="F4F6F8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4297680"/>
            <a:ext cx="1051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4–6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737360" y="4297680"/>
            <a:ext cx="4709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from source systems  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connects to where data actually lives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974336"/>
            <a:ext cx="6035040" cy="585216"/>
          </a:xfrm>
          <a:prstGeom prst="roundRect">
            <a:avLst>
              <a:gd name="adj" fmla="val 9375"/>
            </a:avLst>
          </a:prstGeom>
          <a:solidFill>
            <a:srgbClr val="E8EAF0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4974336"/>
            <a:ext cx="1051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37360" y="4974336"/>
            <a:ext cx="4709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everything  </a:t>
            </a:r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access control · audit · compliance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669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travels down the stack; the answer travels back up — governed at every step.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72400" y="2148840"/>
            <a:ext cx="3840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2148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LAYER 3 IS THE PIECE THAT MATTERS MOST</a:t>
            </a:r>
            <a:endParaRPr lang="en-US" sz="10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88336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156448" y="2615184"/>
            <a:ext cx="3456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— from a person or a system — passes through Layer 3 to get its answer.</a:t>
            </a:r>
            <a:endParaRPr lang="en-US" sz="11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291840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156448" y="3218688"/>
            <a:ext cx="3456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where accuracy, trust and governance are built into the answer, before anyone acts on it.</a:t>
            </a:r>
            <a:endParaRPr lang="en-US" sz="11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895344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156448" y="3822192"/>
            <a:ext cx="3456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six layers carry the question and the data; Layer 3 is where the thinking happens.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7772400" y="4526280"/>
            <a:ext cx="38404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955280" y="4617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OUR BUSINESS DOMAINS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955280" y="4901184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serves our domains — </a:t>
            </a:r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USCC, Deposits, Payments, Party, Account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single domain often spans several source systems; Layer 3 makes that domain answerable as </a:t>
            </a:r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 unit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77240" y="598932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TODAY: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pieces inside Layer 3 — three search methods, plus how they are fused and how data is unified.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COMPONENT 1 OF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Search  —  finds every relevant cardmember, not just the obvious matches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155680" y="365760"/>
            <a:ext cx="658368" cy="658368"/>
          </a:xfrm>
          <a:prstGeom prst="ellipse">
            <a:avLst/>
          </a:prstGeom>
          <a:solidFill>
            <a:srgbClr val="028090"/>
          </a:solidFill>
          <a:ln w="15875">
            <a:solidFill>
              <a:srgbClr val="00A8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4" y="51206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COMPONENT EXISTS: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banker asks for “cardmembers likely to close their account.” The records are tagged “attrition risk” — different words, same people. This component still finds them.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11064240" cy="1554480"/>
          </a:xfrm>
          <a:prstGeom prst="rect">
            <a:avLst/>
          </a:prstGeom>
          <a:solidFill>
            <a:srgbClr val="F3EEEC"/>
          </a:solidFill>
          <a:ln w="12700">
            <a:solidFill>
              <a:srgbClr val="E4DB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148840"/>
            <a:ext cx="1508760" cy="1554480"/>
          </a:xfrm>
          <a:prstGeom prst="rect">
            <a:avLst/>
          </a:prstGeom>
          <a:solidFill>
            <a:srgbClr val="9C7B72"/>
          </a:solidFill>
          <a:ln w="12700">
            <a:solidFill>
              <a:srgbClr val="9C7B7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148840"/>
            <a:ext cx="1508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LIMITED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TODAY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331720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116" y="256946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04872" y="297180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asks in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words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0" y="2926080"/>
            <a:ext cx="384048" cy="0"/>
          </a:xfrm>
          <a:prstGeom prst="line">
            <a:avLst/>
          </a:prstGeom>
          <a:noFill/>
          <a:ln w="31750">
            <a:solidFill>
              <a:srgbClr val="9C7B72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047488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9C7B7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4" y="256946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297180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matches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words only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287768" y="2926080"/>
            <a:ext cx="384048" cy="0"/>
          </a:xfrm>
          <a:prstGeom prst="line">
            <a:avLst/>
          </a:prstGeom>
          <a:noFill/>
          <a:ln w="31750">
            <a:solidFill>
              <a:srgbClr val="9C7B72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763256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9C7B72"/>
          </a:solidFill>
          <a:ln w="12700">
            <a:solidFill>
              <a:srgbClr val="9C7B7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836408" y="242316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obvious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surface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0433304" y="2377440"/>
            <a:ext cx="11795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i="1" dirty="0">
                <a:solidFill>
                  <a:srgbClr val="7A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cardmembers worded differently stay below the radar — the picture is incomplete.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3886200"/>
            <a:ext cx="11064240" cy="1554480"/>
          </a:xfrm>
          <a:prstGeom prst="rect">
            <a:avLst/>
          </a:prstGeom>
          <a:solidFill>
            <a:srgbClr val="E6F6F2"/>
          </a:solidFill>
          <a:ln w="12700">
            <a:solidFill>
              <a:srgbClr val="CDE9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8640" y="3886200"/>
            <a:ext cx="1508760" cy="1554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1605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" y="4562856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CONTEXTGRID WAY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2331720" y="4160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4116" y="4306824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404872" y="470916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asks in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words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572000" y="4663440"/>
            <a:ext cx="384048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0" name="Shape 23"/>
          <p:cNvSpPr/>
          <p:nvPr/>
        </p:nvSpPr>
        <p:spPr>
          <a:xfrm>
            <a:off x="5047488" y="4160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120640" y="416052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meaning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7287768" y="4663440"/>
            <a:ext cx="384048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7763256" y="4160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836408" y="416052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relevant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surfaces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10433304" y="4114800"/>
            <a:ext cx="11795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set of relevant cardmembers surfaces — in any wording, any language.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548640" y="5669280"/>
            <a:ext cx="553212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916168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207008" y="5669280"/>
            <a:ext cx="4709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rest on the full set of relevant cardmembers.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6263640" y="5669280"/>
            <a:ext cx="534924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5925312"/>
            <a:ext cx="310896" cy="31089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858000" y="5669280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CONFIDENCE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only real records — never invents data.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COMPONENT 2 OF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Graph  —  sees the full relationship behind every cardmember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155680" y="365760"/>
            <a:ext cx="658368" cy="658368"/>
          </a:xfrm>
          <a:prstGeom prst="ellipse">
            <a:avLst/>
          </a:prstGeom>
          <a:solidFill>
            <a:srgbClr val="028090"/>
          </a:solidFill>
          <a:ln w="15875">
            <a:solidFill>
              <a:srgbClr val="00A8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4" y="51206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COMPONENT EXISTS: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cardmember in a fraud dispute linked — as a joint holder or authorized user — to other accounts showing the same pattern? This component makes that link visible.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11064240" cy="1554480"/>
          </a:xfrm>
          <a:prstGeom prst="rect">
            <a:avLst/>
          </a:prstGeom>
          <a:solidFill>
            <a:srgbClr val="F3EEEC"/>
          </a:solidFill>
          <a:ln w="12700">
            <a:solidFill>
              <a:srgbClr val="E4DB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148840"/>
            <a:ext cx="1508760" cy="1554480"/>
          </a:xfrm>
          <a:prstGeom prst="rect">
            <a:avLst/>
          </a:prstGeom>
          <a:solidFill>
            <a:srgbClr val="9C7B72"/>
          </a:solidFill>
          <a:ln w="12700">
            <a:solidFill>
              <a:srgbClr val="9C7B7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148840"/>
            <a:ext cx="1508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LIMITED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TODAY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331720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116" y="256946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04872" y="297180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about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accounts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0" y="2926080"/>
            <a:ext cx="384048" cy="0"/>
          </a:xfrm>
          <a:prstGeom prst="line">
            <a:avLst/>
          </a:prstGeom>
          <a:noFill/>
          <a:ln w="31750">
            <a:solidFill>
              <a:srgbClr val="9C7B72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047488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9C7B7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4" y="256946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297180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report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answer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287768" y="2926080"/>
            <a:ext cx="384048" cy="0"/>
          </a:xfrm>
          <a:prstGeom prst="line">
            <a:avLst/>
          </a:prstGeom>
          <a:noFill/>
          <a:ln w="31750">
            <a:solidFill>
              <a:srgbClr val="9C7B72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763256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9C7B72"/>
          </a:solidFill>
          <a:ln w="12700">
            <a:solidFill>
              <a:srgbClr val="9C7B7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836408" y="242316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analyst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chase, account by account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0433304" y="2377440"/>
            <a:ext cx="11795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i="1" dirty="0">
                <a:solidFill>
                  <a:srgbClr val="7A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set of connected accounts depends on an analyst having the time to trace it.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3886200"/>
            <a:ext cx="11064240" cy="1554480"/>
          </a:xfrm>
          <a:prstGeom prst="rect">
            <a:avLst/>
          </a:prstGeom>
          <a:solidFill>
            <a:srgbClr val="E6F6F2"/>
          </a:solidFill>
          <a:ln w="12700">
            <a:solidFill>
              <a:srgbClr val="CDE9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8640" y="3886200"/>
            <a:ext cx="1508760" cy="1554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1605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" y="4562856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CONTEXTGRID WAY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2331720" y="4160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4116" y="4306824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404872" y="470916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about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accounts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572000" y="4663440"/>
            <a:ext cx="384048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0" name="Shape 23"/>
          <p:cNvSpPr/>
          <p:nvPr/>
        </p:nvSpPr>
        <p:spPr>
          <a:xfrm>
            <a:off x="5047488" y="4160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120640" y="416052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traces the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7287768" y="4663440"/>
            <a:ext cx="384048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7763256" y="4160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836408" y="416052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picture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revealed in seconds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10433304" y="4114800"/>
            <a:ext cx="11795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relationship picture is available consistently — every time, repeatably.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548640" y="5669280"/>
            <a:ext cx="553212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916168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207008" y="5669280"/>
            <a:ext cx="4709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connected picture, visible consistently.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6263640" y="5669280"/>
            <a:ext cx="534924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5925312"/>
            <a:ext cx="310896" cy="31089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858000" y="5669280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CONFIDENCE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— traces only verified, existing data.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COMPONENT 3 OF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Search  —  pinpoint accuracy — the exact cardmember record, every time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155680" y="365760"/>
            <a:ext cx="658368" cy="658368"/>
          </a:xfrm>
          <a:prstGeom prst="ellipse">
            <a:avLst/>
          </a:prstGeom>
          <a:solidFill>
            <a:srgbClr val="028090"/>
          </a:solidFill>
          <a:ln w="15875">
            <a:solidFill>
              <a:srgbClr val="00A8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4" y="51206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COMPONENT EXISTS: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a specific cardmember account or cardmember agreement — here only the exact record will do. This component guarantees it lands on the right one.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11064240" cy="1554480"/>
          </a:xfrm>
          <a:prstGeom prst="rect">
            <a:avLst/>
          </a:prstGeom>
          <a:solidFill>
            <a:srgbClr val="F3EEEC"/>
          </a:solidFill>
          <a:ln w="12700">
            <a:solidFill>
              <a:srgbClr val="E4DB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148840"/>
            <a:ext cx="1508760" cy="1554480"/>
          </a:xfrm>
          <a:prstGeom prst="rect">
            <a:avLst/>
          </a:prstGeom>
          <a:solidFill>
            <a:srgbClr val="9C7B72"/>
          </a:solidFill>
          <a:ln w="12700">
            <a:solidFill>
              <a:srgbClr val="9C7B7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148840"/>
            <a:ext cx="1508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LIMITED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TODAY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331720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116" y="256946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04872" y="297180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 an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record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0" y="2926080"/>
            <a:ext cx="384048" cy="0"/>
          </a:xfrm>
          <a:prstGeom prst="line">
            <a:avLst/>
          </a:prstGeom>
          <a:noFill/>
          <a:ln w="31750">
            <a:solidFill>
              <a:srgbClr val="9C7B72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047488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9C7B7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4" y="256946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297180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match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near-records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287768" y="2926080"/>
            <a:ext cx="384048" cy="0"/>
          </a:xfrm>
          <a:prstGeom prst="line">
            <a:avLst/>
          </a:prstGeom>
          <a:noFill/>
          <a:ln w="31750">
            <a:solidFill>
              <a:srgbClr val="9C7B72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763256" y="24231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9C7B72"/>
          </a:solidFill>
          <a:ln w="12700">
            <a:solidFill>
              <a:srgbClr val="9C7B7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836408" y="242316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matches need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check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0433304" y="2377440"/>
            <a:ext cx="11795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i="1" dirty="0">
                <a:solidFill>
                  <a:srgbClr val="7A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lookups need an extra manual check to be sure of the exact record.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3886200"/>
            <a:ext cx="11064240" cy="1554480"/>
          </a:xfrm>
          <a:prstGeom prst="rect">
            <a:avLst/>
          </a:prstGeom>
          <a:solidFill>
            <a:srgbClr val="E6F6F2"/>
          </a:solidFill>
          <a:ln w="12700">
            <a:solidFill>
              <a:srgbClr val="CDE9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8640" y="3886200"/>
            <a:ext cx="1508760" cy="1554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1605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" y="4562856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CONTEXTGRID WAY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2331720" y="4160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5B6472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4116" y="4306824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404872" y="4709160"/>
            <a:ext cx="2002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 an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record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572000" y="4663440"/>
            <a:ext cx="384048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0" name="Shape 23"/>
          <p:cNvSpPr/>
          <p:nvPr/>
        </p:nvSpPr>
        <p:spPr>
          <a:xfrm>
            <a:off x="5047488" y="4160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120640" y="416052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7287768" y="4663440"/>
            <a:ext cx="384048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7763256" y="41605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836408" y="4160520"/>
            <a:ext cx="2002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record</a:t>
            </a:r>
            <a:endParaRPr lang="en-US" sz="10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guaranteed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10433304" y="4114800"/>
            <a:ext cx="11795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lookups are exact and verifiable by design — no second-guessing.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548640" y="5669280"/>
            <a:ext cx="553212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916168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207008" y="5669280"/>
            <a:ext cx="4709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pinpoint lookup lands on the exact record.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6263640" y="5669280"/>
            <a:ext cx="534924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5925312"/>
            <a:ext cx="310896" cy="31089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858000" y="5669280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CONFIDENCE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industry-standard, proven technology.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 — 1 OF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 &amp; Reranking  —  three searches, one trusted answer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155680" y="365760"/>
            <a:ext cx="658368" cy="658368"/>
          </a:xfrm>
          <a:prstGeom prst="ellipse">
            <a:avLst/>
          </a:prstGeom>
          <a:solidFill>
            <a:srgbClr val="028090"/>
          </a:solidFill>
          <a:ln w="15875">
            <a:solidFill>
              <a:srgbClr val="00A8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4" y="51206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STEP DELIVERS: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like “which cardmembers qualify for a pricing offer” draws on all three methods at once — exact account terms, similar-customer patterns and relationship data, combined.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1106424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2322576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232257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 </a:t>
            </a:r>
            <a:pPr algn="ctr" indent="0" marL="0">
              <a:buNone/>
            </a:pPr>
            <a:r>
              <a:rPr lang="en-US" sz="850" i="1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meaning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017520" y="2606040"/>
            <a:ext cx="548640" cy="68580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868680" y="3008376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8680" y="300837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 </a:t>
            </a:r>
            <a:pPr algn="ctr" indent="0" marL="0">
              <a:buNone/>
            </a:pPr>
            <a:r>
              <a:rPr lang="en-US" sz="850" i="1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connections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017520" y="3291840"/>
            <a:ext cx="54864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68680" y="3694176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68680" y="369417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 </a:t>
            </a:r>
            <a:pPr algn="ctr" indent="0" marL="0">
              <a:buNone/>
            </a:pPr>
            <a:r>
              <a:rPr lang="en-US" sz="850" i="1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exact match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017520" y="3977640"/>
            <a:ext cx="548640" cy="-68580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566160" y="26060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25400">
            <a:solidFill>
              <a:srgbClr val="E0A82E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566160" y="26060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spc="200" kern="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9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&amp; de-duplicates</a:t>
            </a:r>
            <a:endParaRPr lang="en-US" sz="9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result lists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97880" y="3291840"/>
            <a:ext cx="64008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537960" y="26060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537960" y="26060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b="1" spc="200" kern="0" dirty="0">
                <a:solidFill>
                  <a:srgbClr val="BF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RANK</a:t>
            </a:r>
            <a:endParaRPr lang="en-US" sz="9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answer,</a:t>
            </a:r>
            <a:endParaRPr lang="en-US" sz="9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rise to the top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869680" y="3291840"/>
            <a:ext cx="64008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509760" y="260604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509760" y="26060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relevance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8640" y="461772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48640" y="4617720"/>
            <a:ext cx="356616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800600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078992" y="476402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UNLOCKS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731520" y="5074920"/>
            <a:ext cx="32186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strengths of all three methods in one answer — complete where any single method is partial.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297680" y="461772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297680" y="4617720"/>
            <a:ext cx="356616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4800600"/>
            <a:ext cx="292608" cy="29260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828032" y="476402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HELPS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480560" y="5074920"/>
            <a:ext cx="32186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runs through all three methods at once, automatically combined — no guesswork.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8046720" y="461772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8046720" y="4617720"/>
            <a:ext cx="356616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4800600"/>
            <a:ext cx="292608" cy="29260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8577072" y="476402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BUILT IN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8229600" y="5074920"/>
            <a:ext cx="32186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method is unavailable, the other two still answer. The system stays dependable end to end.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548640" y="5779008"/>
            <a:ext cx="1106424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971032"/>
            <a:ext cx="347472" cy="347472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207008" y="5779008"/>
            <a:ext cx="10241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MEASURABLE GAIN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quality-rank step lifts answer accuracy by roughly 30–50% compared with any single method alone.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 — 2 OF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Canonical Data Model  —  one version of the truth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155680" y="365760"/>
            <a:ext cx="658368" cy="658368"/>
          </a:xfrm>
          <a:prstGeom prst="ellipse">
            <a:avLst/>
          </a:prstGeom>
          <a:solidFill>
            <a:srgbClr val="028090"/>
          </a:solidFill>
          <a:ln w="15875">
            <a:solidFill>
              <a:srgbClr val="00A8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4" y="51206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COMPONENT EXISTS: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engine behind our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&amp; Reference Data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domain — Party, Account, Agreement — unifying how every system identifies the same customer.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121408"/>
            <a:ext cx="11064240" cy="1371600"/>
          </a:xfrm>
          <a:prstGeom prst="rect">
            <a:avLst/>
          </a:prstGeom>
          <a:solidFill>
            <a:srgbClr val="F3EEEC"/>
          </a:solidFill>
          <a:ln w="12700">
            <a:solidFill>
              <a:srgbClr val="E4DB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121408"/>
            <a:ext cx="1508760" cy="1371600"/>
          </a:xfrm>
          <a:prstGeom prst="rect">
            <a:avLst/>
          </a:prstGeom>
          <a:solidFill>
            <a:srgbClr val="9C7B72"/>
          </a:solidFill>
          <a:ln w="12700">
            <a:solidFill>
              <a:srgbClr val="9C7B7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121408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LIMITED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TODAY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77440" y="2395728"/>
            <a:ext cx="212140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9C7B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77440" y="2395728"/>
            <a:ext cx="2121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platform:</a:t>
            </a:r>
            <a:endParaRPr lang="en-US" sz="9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“J. SMITH”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09160" y="2395728"/>
            <a:ext cx="212140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9C7B7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2395728"/>
            <a:ext cx="2121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system:</a:t>
            </a:r>
            <a:endParaRPr lang="en-US" sz="9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“John Smith”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040880" y="2395728"/>
            <a:ext cx="212140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9C7B7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0" y="2395728"/>
            <a:ext cx="2121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 system:</a:t>
            </a:r>
            <a:endParaRPr lang="en-US" sz="9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“Smith, John A.”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9509760" y="235000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i="1" dirty="0">
                <a:solidFill>
                  <a:srgbClr val="7A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cardmember,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i="1" dirty="0">
                <a:solidFill>
                  <a:srgbClr val="7A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as three separate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i="1" dirty="0">
                <a:solidFill>
                  <a:srgbClr val="7A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today.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3630168"/>
            <a:ext cx="11064240" cy="1874520"/>
          </a:xfrm>
          <a:prstGeom prst="rect">
            <a:avLst/>
          </a:prstGeom>
          <a:solidFill>
            <a:srgbClr val="E6F6F2"/>
          </a:solidFill>
          <a:ln w="12700">
            <a:solidFill>
              <a:srgbClr val="CDE9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3630168"/>
            <a:ext cx="1508760" cy="18745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4197096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8640" y="45994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CONTEXTGRID WAY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331720" y="3808476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331720" y="380847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platform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160520" y="4018788"/>
            <a:ext cx="502920" cy="548640"/>
          </a:xfrm>
          <a:prstGeom prst="line">
            <a:avLst/>
          </a:prstGeom>
          <a:noFill/>
          <a:ln w="2032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2331720" y="4357116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331720" y="435711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system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160520" y="4567428"/>
            <a:ext cx="502920" cy="0"/>
          </a:xfrm>
          <a:prstGeom prst="line">
            <a:avLst/>
          </a:prstGeom>
          <a:noFill/>
          <a:ln w="2032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2331720" y="4905756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331720" y="49057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 system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160520" y="5116068"/>
            <a:ext cx="502920" cy="-548640"/>
          </a:xfrm>
          <a:prstGeom prst="line">
            <a:avLst/>
          </a:prstGeom>
          <a:noFill/>
          <a:ln w="2032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4663440" y="3950208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 w="25400">
            <a:solidFill>
              <a:srgbClr val="E0A82E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4663440" y="3950208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DATA MODEL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 they are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same customer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7178040" y="4567428"/>
            <a:ext cx="59436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4" name="Shape 30"/>
          <p:cNvSpPr/>
          <p:nvPr/>
        </p:nvSpPr>
        <p:spPr>
          <a:xfrm>
            <a:off x="7772400" y="3950208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7772400" y="395020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 VIEW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each customer —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&amp; always current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10607040" y="3950208"/>
            <a:ext cx="914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moves —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stay exactly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are.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548640" y="5650992"/>
            <a:ext cx="5532120" cy="859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907024"/>
            <a:ext cx="347472" cy="34747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207008" y="5650992"/>
            <a:ext cx="47091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cardmember view behind every decision.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6263640" y="5650992"/>
            <a:ext cx="5349240" cy="859536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925312"/>
            <a:ext cx="310896" cy="310896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858000" y="5650992"/>
            <a:ext cx="45720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CONFIDENCE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its source system of record.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3 in context — and what follows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COVERED: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makes every answer accurate, complete, governed and trustworthy — ready to act on with confidence.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661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48840"/>
            <a:ext cx="35661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36829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46888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3682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8096" y="2898648"/>
            <a:ext cx="31455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found by meaning, exact match and relationships — then quality-ranked.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2148840"/>
            <a:ext cx="35661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2148840"/>
            <a:ext cx="35661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98848" y="236829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468880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74920" y="23682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17136" y="2898648"/>
            <a:ext cx="31455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applied to every answer; data never leaves its system of record.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46720" y="2148840"/>
            <a:ext cx="35661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0" y="2148840"/>
            <a:ext cx="35661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47888" y="236829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2468880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23960" y="23682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266176" y="2898648"/>
            <a:ext cx="31455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 view of each customer across every domain and source system.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48640" y="3749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FULL PICTURE COMES TOGETHER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4114800"/>
            <a:ext cx="2670048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25400">
            <a:solidFill>
              <a:srgbClr val="E0A82E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40080" y="41148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Layer 3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today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3236976" y="4572000"/>
            <a:ext cx="128016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3383280" y="4114800"/>
            <a:ext cx="26700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0D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474720" y="41148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1–2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questions are asked &amp; understood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6071616" y="4572000"/>
            <a:ext cx="128016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6217920" y="4114800"/>
            <a:ext cx="26700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0D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309360" y="41148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4–6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source systems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8906256" y="4572000"/>
            <a:ext cx="128016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4" name="Shape 29"/>
          <p:cNvSpPr/>
          <p:nvPr/>
        </p:nvSpPr>
        <p:spPr>
          <a:xfrm>
            <a:off x="9052560" y="4114800"/>
            <a:ext cx="26700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0D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144000" y="41148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security, end to end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548640" y="5440680"/>
            <a:ext cx="1106424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548640" y="5440680"/>
            <a:ext cx="91440" cy="1097280"/>
          </a:xfrm>
          <a:prstGeom prst="rect">
            <a:avLst/>
          </a:prstGeom>
          <a:solidFill>
            <a:srgbClr val="E0A82E"/>
          </a:solidFill>
          <a:ln w="12700">
            <a:solidFill>
              <a:srgbClr val="E0A82E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68680" y="55778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FOR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868680" y="587044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 to proceed with Layer 3 as designed — and alignment that the remaining layers follow as their own deep-dives, building one trusted, well-governed data access platform.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ContextGrid — Enterprise Context &amp; Knowledge Layer</dc:title>
  <dc:subject>PptxGenJS Presentation</dc:subject>
  <dc:creator>ContextGrid Platform Team</dc:creator>
  <cp:lastModifiedBy>ContextGrid Platform Team</cp:lastModifiedBy>
  <cp:revision>1</cp:revision>
  <dcterms:created xsi:type="dcterms:W3CDTF">2026-05-21T15:29:58Z</dcterms:created>
  <dcterms:modified xsi:type="dcterms:W3CDTF">2026-05-21T15:29:58Z</dcterms:modified>
</cp:coreProperties>
</file>